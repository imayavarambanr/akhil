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bin" ContentType="application/vnd.openxmlformats-officedocument.oleObject"/>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576" autoAdjust="0"/>
  </p:normalViewPr>
  <p:slideViewPr>
    <p:cSldViewPr>
      <p:cViewPr varScale="1">
        <p:scale>
          <a:sx n="73" d="100"/>
          <a:sy n="73" d="100"/>
        </p:scale>
        <p:origin x="-107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3D86E9A-49A9-40AE-A3AD-CFD735CFDFB2}" type="datetimeFigureOut">
              <a:rPr lang="en-US" smtClean="0"/>
              <a:pPr/>
              <a:t>17-Feb-15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348234-A934-444B-9339-E55B6F944F3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C362BC9-D99C-4A27-AF23-CF47AAF888B6}" type="datetimeFigureOut">
              <a:rPr lang="en-US" smtClean="0"/>
              <a:pPr/>
              <a:t>17-Feb-15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362BC9-D99C-4A27-AF23-CF47AAF888B6}" type="datetimeFigureOut">
              <a:rPr lang="en-US" smtClean="0"/>
              <a:pPr/>
              <a:t>17-Feb-15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C362BC9-D99C-4A27-AF23-CF47AAF888B6}" type="datetimeFigureOut">
              <a:rPr lang="en-US" smtClean="0"/>
              <a:pPr/>
              <a:t>17-Feb-15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C362BC9-D99C-4A27-AF23-CF47AAF888B6}" type="datetimeFigureOut">
              <a:rPr lang="en-US" smtClean="0"/>
              <a:pPr/>
              <a:t>17-Feb-15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C362BC9-D99C-4A27-AF23-CF47AAF888B6}" type="datetimeFigureOut">
              <a:rPr lang="en-US" smtClean="0"/>
              <a:pPr/>
              <a:t>17-Feb-15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C362BC9-D99C-4A27-AF23-CF47AAF888B6}" type="datetimeFigureOut">
              <a:rPr lang="en-US" smtClean="0"/>
              <a:pPr/>
              <a:t>17-Feb-15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C362BC9-D99C-4A27-AF23-CF47AAF888B6}" type="datetimeFigureOut">
              <a:rPr lang="en-US" smtClean="0"/>
              <a:pPr/>
              <a:t>17-Feb-15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362BC9-D99C-4A27-AF23-CF47AAF888B6}" type="datetimeFigureOut">
              <a:rPr lang="en-US" smtClean="0"/>
              <a:pPr/>
              <a:t>17-Feb-15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C362BC9-D99C-4A27-AF23-CF47AAF888B6}" type="datetimeFigureOut">
              <a:rPr lang="en-US" smtClean="0"/>
              <a:pPr/>
              <a:t>17-Feb-15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362BC9-D99C-4A27-AF23-CF47AAF888B6}" type="datetimeFigureOut">
              <a:rPr lang="en-US" smtClean="0"/>
              <a:pPr/>
              <a:t>17-Feb-15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C362BC9-D99C-4A27-AF23-CF47AAF888B6}" type="datetimeFigureOut">
              <a:rPr lang="en-US" smtClean="0"/>
              <a:pPr/>
              <a:t>17-Feb-15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E53214-BD7C-4F7A-A151-EBD6B6F115B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A603AB"/>
            </a:gs>
            <a:gs pos="21001">
              <a:srgbClr val="0819FB"/>
            </a:gs>
            <a:gs pos="35001">
              <a:srgbClr val="1A8D48"/>
            </a:gs>
            <a:gs pos="52000">
              <a:srgbClr val="FFFF00"/>
            </a:gs>
            <a:gs pos="73000">
              <a:srgbClr val="EE3F17"/>
            </a:gs>
            <a:gs pos="88000">
              <a:srgbClr val="E81766"/>
            </a:gs>
            <a:gs pos="100000">
              <a:srgbClr val="A603AB"/>
            </a:gs>
          </a:gsLst>
          <a:lin ang="27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362BC9-D99C-4A27-AF23-CF47AAF888B6}" type="datetimeFigureOut">
              <a:rPr lang="en-US" smtClean="0"/>
              <a:pPr/>
              <a:t>17-Feb-15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E53214-BD7C-4F7A-A151-EBD6B6F115B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8229600" cy="1470025"/>
          </a:xfrm>
        </p:spPr>
        <p:txBody>
          <a:bodyPr/>
          <a:lstStyle/>
          <a:p>
            <a:r>
              <a:rPr lang="en-US" dirty="0" smtClean="0"/>
              <a:t>HUMAN EYE MOBILE TECHNOLOGY</a:t>
            </a:r>
            <a:br>
              <a:rPr lang="en-US" dirty="0" smtClean="0"/>
            </a:br>
            <a:r>
              <a:rPr lang="en-US" dirty="0" smtClean="0"/>
              <a:t>(HEMT)</a:t>
            </a:r>
            <a:endParaRPr lang="en-US" dirty="0"/>
          </a:p>
        </p:txBody>
      </p:sp>
      <p:sp>
        <p:nvSpPr>
          <p:cNvPr id="5" name="TextBox 4"/>
          <p:cNvSpPr txBox="1"/>
          <p:nvPr/>
        </p:nvSpPr>
        <p:spPr>
          <a:xfrm>
            <a:off x="4953000" y="4648200"/>
            <a:ext cx="3886200" cy="1631216"/>
          </a:xfrm>
          <a:prstGeom prst="rect">
            <a:avLst/>
          </a:prstGeom>
          <a:noFill/>
        </p:spPr>
        <p:txBody>
          <a:bodyPr wrap="square" rtlCol="0">
            <a:spAutoFit/>
          </a:bodyPr>
          <a:lstStyle/>
          <a:p>
            <a:pPr algn="r"/>
            <a:r>
              <a:rPr lang="en-US" sz="2800" b="1" dirty="0" smtClean="0"/>
              <a:t>By</a:t>
            </a:r>
          </a:p>
          <a:p>
            <a:pPr algn="r"/>
            <a:r>
              <a:rPr lang="en-US" sz="2400" b="1" dirty="0" smtClean="0"/>
              <a:t>BHUVANESHWAR.V</a:t>
            </a:r>
          </a:p>
          <a:p>
            <a:pPr algn="r"/>
            <a:r>
              <a:rPr lang="en-US" sz="2400" b="1" dirty="0" smtClean="0"/>
              <a:t>IMAYAVARAMBAN.R</a:t>
            </a:r>
          </a:p>
          <a:p>
            <a:pPr algn="r"/>
            <a:r>
              <a:rPr lang="en-US" sz="2400" b="1" dirty="0" smtClean="0"/>
              <a:t>Rmk Engineering College</a:t>
            </a:r>
            <a:endParaRPr lang="en-US" sz="2400" b="1" dirty="0"/>
          </a:p>
        </p:txBody>
      </p:sp>
      <p:pic>
        <p:nvPicPr>
          <p:cNvPr id="6" name="Picture 5" descr="6a015392b1efb3970b0167691927aa970b-800wi.jpg"/>
          <p:cNvPicPr>
            <a:picLocks noChangeAspect="1"/>
          </p:cNvPicPr>
          <p:nvPr/>
        </p:nvPicPr>
        <p:blipFill>
          <a:blip r:embed="rId2"/>
          <a:stretch>
            <a:fillRect/>
          </a:stretch>
        </p:blipFill>
        <p:spPr>
          <a:xfrm>
            <a:off x="2209800" y="1828800"/>
            <a:ext cx="4533900" cy="3022600"/>
          </a:xfrm>
          <a:prstGeom prst="rect">
            <a:avLst/>
          </a:prstGeom>
        </p:spPr>
      </p:pic>
    </p:spTree>
  </p:cSld>
  <p:clrMapOvr>
    <a:masterClrMapping/>
  </p:clrMapOvr>
  <p:transition spd="slow">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t>
            </a:r>
            <a:r>
              <a:rPr lang="en-US" sz="4000" dirty="0" smtClean="0"/>
              <a:t>ECHNOLOGY</a:t>
            </a:r>
            <a:r>
              <a:rPr lang="en-US" dirty="0" smtClean="0"/>
              <a:t> I</a:t>
            </a:r>
            <a:r>
              <a:rPr lang="en-US" sz="4000" dirty="0" smtClean="0"/>
              <a:t>NTRODUCTION</a:t>
            </a:r>
            <a:endParaRPr lang="en-US" sz="4000" dirty="0"/>
          </a:p>
        </p:txBody>
      </p:sp>
      <p:sp>
        <p:nvSpPr>
          <p:cNvPr id="4" name="TextBox 3"/>
          <p:cNvSpPr txBox="1"/>
          <p:nvPr/>
        </p:nvSpPr>
        <p:spPr>
          <a:xfrm>
            <a:off x="914400" y="1524000"/>
            <a:ext cx="7924800" cy="523220"/>
          </a:xfrm>
          <a:prstGeom prst="rect">
            <a:avLst/>
          </a:prstGeom>
          <a:noFill/>
        </p:spPr>
        <p:txBody>
          <a:bodyPr wrap="square" rtlCol="0">
            <a:spAutoFit/>
          </a:bodyPr>
          <a:lstStyle/>
          <a:p>
            <a:pPr>
              <a:buFont typeface="Wingdings" pitchFamily="2" charset="2"/>
              <a:buChar char="Ø"/>
            </a:pPr>
            <a:r>
              <a:rPr lang="en-US" sz="2800" dirty="0" smtClean="0"/>
              <a:t>Human Computer Interaction(HCI):         </a:t>
            </a:r>
            <a:endParaRPr lang="en-US" sz="2800" dirty="0"/>
          </a:p>
        </p:txBody>
      </p:sp>
      <p:sp>
        <p:nvSpPr>
          <p:cNvPr id="5" name="TextBox 4"/>
          <p:cNvSpPr txBox="1"/>
          <p:nvPr/>
        </p:nvSpPr>
        <p:spPr>
          <a:xfrm>
            <a:off x="1524000" y="2133600"/>
            <a:ext cx="7924800" cy="1200329"/>
          </a:xfrm>
          <a:prstGeom prst="rect">
            <a:avLst/>
          </a:prstGeom>
          <a:noFill/>
        </p:spPr>
        <p:txBody>
          <a:bodyPr wrap="square" rtlCol="0">
            <a:spAutoFit/>
          </a:bodyPr>
          <a:lstStyle/>
          <a:p>
            <a:pPr>
              <a:buFont typeface="Arial" pitchFamily="34" charset="0"/>
              <a:buChar char="•"/>
            </a:pPr>
            <a:r>
              <a:rPr lang="en-US" sz="2400" dirty="0" smtClean="0"/>
              <a:t> HCI is the study of how people interact with the computers and to what extent  computers are developed for successful interaction with human beings.</a:t>
            </a:r>
            <a:endParaRPr lang="en-US" sz="2400" dirty="0"/>
          </a:p>
        </p:txBody>
      </p:sp>
      <p:sp>
        <p:nvSpPr>
          <p:cNvPr id="6" name="TextBox 5"/>
          <p:cNvSpPr txBox="1"/>
          <p:nvPr/>
        </p:nvSpPr>
        <p:spPr>
          <a:xfrm>
            <a:off x="1524000" y="3429000"/>
            <a:ext cx="8153400" cy="1200329"/>
          </a:xfrm>
          <a:prstGeom prst="rect">
            <a:avLst/>
          </a:prstGeom>
          <a:noFill/>
        </p:spPr>
        <p:txBody>
          <a:bodyPr wrap="square" rtlCol="0">
            <a:spAutoFit/>
          </a:bodyPr>
          <a:lstStyle/>
          <a:p>
            <a:pPr>
              <a:buFont typeface="Arial" pitchFamily="34" charset="0"/>
              <a:buChar char="•"/>
            </a:pPr>
            <a:r>
              <a:rPr lang="en-US" sz="2400" dirty="0" smtClean="0"/>
              <a:t> The aim of HCI is </a:t>
            </a:r>
            <a:r>
              <a:rPr lang="en-US" sz="2400" dirty="0"/>
              <a:t>to reduce the effort users exert when accessing applications on limited form factor devices such as mobile phones.</a:t>
            </a:r>
          </a:p>
        </p:txBody>
      </p:sp>
      <p:sp>
        <p:nvSpPr>
          <p:cNvPr id="7" name="TextBox 6"/>
          <p:cNvSpPr txBox="1"/>
          <p:nvPr/>
        </p:nvSpPr>
        <p:spPr>
          <a:xfrm>
            <a:off x="990600" y="4648200"/>
            <a:ext cx="5257800" cy="523220"/>
          </a:xfrm>
          <a:prstGeom prst="rect">
            <a:avLst/>
          </a:prstGeom>
          <a:noFill/>
        </p:spPr>
        <p:txBody>
          <a:bodyPr wrap="square" rtlCol="0">
            <a:spAutoFit/>
          </a:bodyPr>
          <a:lstStyle/>
          <a:p>
            <a:pPr>
              <a:buFont typeface="Wingdings" pitchFamily="2" charset="2"/>
              <a:buChar char="Ø"/>
            </a:pPr>
            <a:r>
              <a:rPr lang="en-US" sz="2800" dirty="0" smtClean="0"/>
              <a:t> Human Phone Interaction(HPI):</a:t>
            </a:r>
            <a:endParaRPr lang="en-US" sz="2800" dirty="0"/>
          </a:p>
        </p:txBody>
      </p:sp>
      <p:sp>
        <p:nvSpPr>
          <p:cNvPr id="8" name="TextBox 7"/>
          <p:cNvSpPr txBox="1"/>
          <p:nvPr/>
        </p:nvSpPr>
        <p:spPr>
          <a:xfrm>
            <a:off x="1524000" y="5181600"/>
            <a:ext cx="6705600" cy="1200329"/>
          </a:xfrm>
          <a:prstGeom prst="rect">
            <a:avLst/>
          </a:prstGeom>
          <a:noFill/>
        </p:spPr>
        <p:txBody>
          <a:bodyPr wrap="square" rtlCol="0">
            <a:spAutoFit/>
          </a:bodyPr>
          <a:lstStyle/>
          <a:p>
            <a:pPr>
              <a:buFont typeface="Arial" pitchFamily="34" charset="0"/>
              <a:buChar char="•"/>
            </a:pPr>
            <a:r>
              <a:rPr lang="en-US" sz="2400" dirty="0" smtClean="0"/>
              <a:t>HPI </a:t>
            </a:r>
            <a:r>
              <a:rPr lang="en-US" sz="2400" dirty="0"/>
              <a:t>extends the challenges not typically found in HCI research, more specially related to the phone and how we use it. </a:t>
            </a:r>
          </a:p>
        </p:txBody>
      </p:sp>
    </p:spTree>
  </p:cSld>
  <p:clrMapOvr>
    <a:masterClrMapping/>
  </p:clrMapOvr>
  <p:transition spd="slow">
    <p:wipe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HPI C</a:t>
            </a:r>
            <a:r>
              <a:rPr lang="en-US" sz="3600" dirty="0" smtClean="0"/>
              <a:t>HALLENGES</a:t>
            </a:r>
            <a:endParaRPr lang="en-US" sz="3600" dirty="0"/>
          </a:p>
        </p:txBody>
      </p:sp>
      <p:sp>
        <p:nvSpPr>
          <p:cNvPr id="4" name="TextBox 3"/>
          <p:cNvSpPr txBox="1"/>
          <p:nvPr/>
        </p:nvSpPr>
        <p:spPr>
          <a:xfrm>
            <a:off x="1066800" y="1447800"/>
            <a:ext cx="7772400" cy="369332"/>
          </a:xfrm>
          <a:prstGeom prst="rect">
            <a:avLst/>
          </a:prstGeom>
          <a:noFill/>
        </p:spPr>
        <p:txBody>
          <a:bodyPr wrap="square" rtlCol="0">
            <a:spAutoFit/>
          </a:bodyPr>
          <a:lstStyle/>
          <a:p>
            <a:endParaRPr lang="en-US" dirty="0"/>
          </a:p>
        </p:txBody>
      </p:sp>
      <p:sp>
        <p:nvSpPr>
          <p:cNvPr id="5" name="TextBox 4"/>
          <p:cNvSpPr txBox="1"/>
          <p:nvPr/>
        </p:nvSpPr>
        <p:spPr>
          <a:xfrm>
            <a:off x="381000" y="1447800"/>
            <a:ext cx="8763000" cy="4893647"/>
          </a:xfrm>
          <a:prstGeom prst="rect">
            <a:avLst/>
          </a:prstGeom>
          <a:noFill/>
        </p:spPr>
        <p:txBody>
          <a:bodyPr wrap="square" rtlCol="0">
            <a:spAutoFit/>
          </a:bodyPr>
          <a:lstStyle/>
          <a:p>
            <a:pPr marL="400050" indent="-400050" fontAlgn="auto">
              <a:spcAft>
                <a:spcPts val="0"/>
              </a:spcAft>
              <a:buFont typeface="Wingdings" pitchFamily="2" charset="2"/>
              <a:buChar char="ü"/>
              <a:defRPr/>
            </a:pPr>
            <a:r>
              <a:rPr lang="en-US" sz="2400" dirty="0"/>
              <a:t>I</a:t>
            </a:r>
            <a:r>
              <a:rPr lang="en-US" sz="2400" dirty="0" smtClean="0"/>
              <a:t>t </a:t>
            </a:r>
            <a:r>
              <a:rPr lang="en-US" sz="2400" dirty="0"/>
              <a:t>should not rely on any external devices other than the mobile phone </a:t>
            </a:r>
            <a:r>
              <a:rPr lang="en-US" sz="2400" dirty="0" smtClean="0"/>
              <a:t>itself.</a:t>
            </a:r>
          </a:p>
          <a:p>
            <a:pPr marL="400050" indent="-400050" fontAlgn="auto">
              <a:spcAft>
                <a:spcPts val="0"/>
              </a:spcAft>
              <a:defRPr/>
            </a:pPr>
            <a:endParaRPr lang="en-US" sz="2400" dirty="0"/>
          </a:p>
          <a:p>
            <a:pPr marL="400050" indent="-400050" fontAlgn="auto">
              <a:spcAft>
                <a:spcPts val="0"/>
              </a:spcAft>
              <a:buFont typeface="Wingdings" pitchFamily="2" charset="2"/>
              <a:buChar char="ü"/>
              <a:defRPr/>
            </a:pPr>
            <a:r>
              <a:rPr lang="en-US" sz="2400" dirty="0" smtClean="0"/>
              <a:t>It </a:t>
            </a:r>
            <a:r>
              <a:rPr lang="en-US" sz="2400" dirty="0"/>
              <a:t>should be readily usable with minimum user dependency as </a:t>
            </a:r>
            <a:r>
              <a:rPr lang="en-US" sz="2400" dirty="0" smtClean="0"/>
              <a:t>possible.</a:t>
            </a:r>
          </a:p>
          <a:p>
            <a:pPr marL="400050" indent="-400050" fontAlgn="auto">
              <a:spcAft>
                <a:spcPts val="0"/>
              </a:spcAft>
              <a:defRPr/>
            </a:pPr>
            <a:endParaRPr lang="en-US" sz="2400" dirty="0"/>
          </a:p>
          <a:p>
            <a:pPr marL="400050" indent="-400050" fontAlgn="auto">
              <a:spcAft>
                <a:spcPts val="0"/>
              </a:spcAft>
              <a:buFont typeface="Wingdings" pitchFamily="2" charset="2"/>
              <a:buChar char="ü"/>
              <a:defRPr/>
            </a:pPr>
            <a:r>
              <a:rPr lang="en-US" sz="2400" dirty="0" smtClean="0"/>
              <a:t>It </a:t>
            </a:r>
            <a:r>
              <a:rPr lang="en-US" sz="2400" dirty="0"/>
              <a:t>should be fast in the inference </a:t>
            </a:r>
            <a:r>
              <a:rPr lang="en-US" sz="2400" dirty="0" smtClean="0"/>
              <a:t>phase.</a:t>
            </a:r>
          </a:p>
          <a:p>
            <a:pPr marL="400050" indent="-400050" fontAlgn="auto">
              <a:spcAft>
                <a:spcPts val="0"/>
              </a:spcAft>
              <a:defRPr/>
            </a:pPr>
            <a:endParaRPr lang="en-US" sz="2400" dirty="0"/>
          </a:p>
          <a:p>
            <a:pPr marL="400050" indent="-400050" fontAlgn="auto">
              <a:spcAft>
                <a:spcPts val="0"/>
              </a:spcAft>
              <a:buFont typeface="Wingdings" pitchFamily="2" charset="2"/>
              <a:buChar char="ü"/>
              <a:defRPr/>
            </a:pPr>
            <a:r>
              <a:rPr lang="en-US" sz="2400" dirty="0" smtClean="0"/>
              <a:t>It </a:t>
            </a:r>
            <a:r>
              <a:rPr lang="en-US" sz="2400" dirty="0"/>
              <a:t>should be lightweight in terms of </a:t>
            </a:r>
            <a:r>
              <a:rPr lang="en-US" sz="2400" dirty="0" smtClean="0"/>
              <a:t>computation.</a:t>
            </a:r>
          </a:p>
          <a:p>
            <a:pPr marL="400050" indent="-400050" fontAlgn="auto">
              <a:spcAft>
                <a:spcPts val="0"/>
              </a:spcAft>
              <a:defRPr/>
            </a:pPr>
            <a:endParaRPr lang="en-US" sz="2400" dirty="0"/>
          </a:p>
          <a:p>
            <a:pPr marL="400050" indent="-400050" fontAlgn="auto">
              <a:spcAft>
                <a:spcPts val="0"/>
              </a:spcAft>
              <a:buFont typeface="Wingdings" pitchFamily="2" charset="2"/>
              <a:buChar char="ü"/>
              <a:defRPr/>
            </a:pPr>
            <a:r>
              <a:rPr lang="en-US" sz="2400" dirty="0" smtClean="0"/>
              <a:t>It </a:t>
            </a:r>
            <a:r>
              <a:rPr lang="en-US" sz="2400" dirty="0"/>
              <a:t>should preserve the phone user experience, e.g., it should not deplete the phone battery over normal operations.</a:t>
            </a:r>
          </a:p>
          <a:p>
            <a:pPr>
              <a:buFont typeface="Wingdings" pitchFamily="2" charset="2"/>
              <a:buChar char="ü"/>
            </a:pPr>
            <a:endParaRPr lang="en-US" sz="2400" dirty="0"/>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868362"/>
          </a:xfrm>
        </p:spPr>
        <p:txBody>
          <a:bodyPr>
            <a:normAutofit/>
          </a:bodyPr>
          <a:lstStyle/>
          <a:p>
            <a:r>
              <a:rPr lang="en-US" dirty="0" smtClean="0"/>
              <a:t>HPI E</a:t>
            </a:r>
            <a:r>
              <a:rPr lang="en-US" sz="3600" dirty="0" smtClean="0"/>
              <a:t>VOLUTIONS</a:t>
            </a:r>
            <a:endParaRPr lang="en-US" sz="3600" dirty="0"/>
          </a:p>
        </p:txBody>
      </p:sp>
      <p:pic>
        <p:nvPicPr>
          <p:cNvPr id="4" name="Picture 3" descr="the-evolution-of-cell-phone-design-between-1983-2009-2009070105002250-cellphone_design_jpg.jpg"/>
          <p:cNvPicPr>
            <a:picLocks noChangeAspect="1"/>
          </p:cNvPicPr>
          <p:nvPr/>
        </p:nvPicPr>
        <p:blipFill>
          <a:blip r:embed="rId2"/>
          <a:stretch>
            <a:fillRect/>
          </a:stretch>
        </p:blipFill>
        <p:spPr>
          <a:xfrm>
            <a:off x="990600" y="1066800"/>
            <a:ext cx="2651760" cy="1828800"/>
          </a:xfrm>
          <a:prstGeom prst="rect">
            <a:avLst/>
          </a:prstGeom>
        </p:spPr>
      </p:pic>
      <p:pic>
        <p:nvPicPr>
          <p:cNvPr id="5" name="Picture 4" descr="track-ball-wifi-tv-blackberry-9000-2.jpg"/>
          <p:cNvPicPr>
            <a:picLocks noChangeAspect="1"/>
          </p:cNvPicPr>
          <p:nvPr/>
        </p:nvPicPr>
        <p:blipFill>
          <a:blip r:embed="rId3"/>
          <a:stretch>
            <a:fillRect/>
          </a:stretch>
        </p:blipFill>
        <p:spPr>
          <a:xfrm>
            <a:off x="1219200" y="4038600"/>
            <a:ext cx="2210123" cy="1828800"/>
          </a:xfrm>
          <a:prstGeom prst="rect">
            <a:avLst/>
          </a:prstGeom>
        </p:spPr>
      </p:pic>
      <p:pic>
        <p:nvPicPr>
          <p:cNvPr id="6" name="Picture 5" descr="phones.jpg"/>
          <p:cNvPicPr>
            <a:picLocks noChangeAspect="1"/>
          </p:cNvPicPr>
          <p:nvPr/>
        </p:nvPicPr>
        <p:blipFill>
          <a:blip r:embed="rId4"/>
          <a:stretch>
            <a:fillRect/>
          </a:stretch>
        </p:blipFill>
        <p:spPr>
          <a:xfrm>
            <a:off x="4648200" y="1066800"/>
            <a:ext cx="2209800" cy="1825125"/>
          </a:xfrm>
          <a:prstGeom prst="rect">
            <a:avLst/>
          </a:prstGeom>
        </p:spPr>
      </p:pic>
      <p:pic>
        <p:nvPicPr>
          <p:cNvPr id="7" name="Picture 6" descr="any-do.jpg"/>
          <p:cNvPicPr>
            <a:picLocks noChangeAspect="1"/>
          </p:cNvPicPr>
          <p:nvPr/>
        </p:nvPicPr>
        <p:blipFill>
          <a:blip r:embed="rId5"/>
          <a:stretch>
            <a:fillRect/>
          </a:stretch>
        </p:blipFill>
        <p:spPr>
          <a:xfrm>
            <a:off x="5105400" y="4038600"/>
            <a:ext cx="1752600" cy="1780770"/>
          </a:xfrm>
          <a:prstGeom prst="rect">
            <a:avLst/>
          </a:prstGeom>
        </p:spPr>
      </p:pic>
      <p:sp>
        <p:nvSpPr>
          <p:cNvPr id="8" name="TextBox 7"/>
          <p:cNvSpPr txBox="1"/>
          <p:nvPr/>
        </p:nvSpPr>
        <p:spPr>
          <a:xfrm>
            <a:off x="1371600" y="2971800"/>
            <a:ext cx="2362200" cy="400110"/>
          </a:xfrm>
          <a:prstGeom prst="rect">
            <a:avLst/>
          </a:prstGeom>
          <a:noFill/>
        </p:spPr>
        <p:txBody>
          <a:bodyPr wrap="square" rtlCol="0">
            <a:spAutoFit/>
          </a:bodyPr>
          <a:lstStyle/>
          <a:p>
            <a:r>
              <a:rPr lang="en-US" sz="2000" b="1" dirty="0" smtClean="0"/>
              <a:t>1983  Keypad</a:t>
            </a:r>
            <a:endParaRPr lang="en-US" sz="2000" b="1" dirty="0"/>
          </a:p>
        </p:txBody>
      </p:sp>
      <p:sp>
        <p:nvSpPr>
          <p:cNvPr id="9" name="TextBox 8"/>
          <p:cNvSpPr txBox="1"/>
          <p:nvPr/>
        </p:nvSpPr>
        <p:spPr>
          <a:xfrm>
            <a:off x="4648200" y="2971800"/>
            <a:ext cx="2209800" cy="400110"/>
          </a:xfrm>
          <a:prstGeom prst="rect">
            <a:avLst/>
          </a:prstGeom>
          <a:noFill/>
        </p:spPr>
        <p:txBody>
          <a:bodyPr wrap="square" rtlCol="0">
            <a:spAutoFit/>
          </a:bodyPr>
          <a:lstStyle/>
          <a:p>
            <a:r>
              <a:rPr lang="en-US" sz="2000" b="1" dirty="0" smtClean="0"/>
              <a:t>1993 Touch Screen</a:t>
            </a:r>
            <a:endParaRPr lang="en-US" sz="2000" b="1" dirty="0"/>
          </a:p>
        </p:txBody>
      </p:sp>
      <p:sp>
        <p:nvSpPr>
          <p:cNvPr id="10" name="TextBox 9"/>
          <p:cNvSpPr txBox="1"/>
          <p:nvPr/>
        </p:nvSpPr>
        <p:spPr>
          <a:xfrm>
            <a:off x="1295400" y="6096000"/>
            <a:ext cx="2209800" cy="400110"/>
          </a:xfrm>
          <a:prstGeom prst="rect">
            <a:avLst/>
          </a:prstGeom>
          <a:noFill/>
        </p:spPr>
        <p:txBody>
          <a:bodyPr wrap="square" rtlCol="0">
            <a:spAutoFit/>
          </a:bodyPr>
          <a:lstStyle/>
          <a:p>
            <a:r>
              <a:rPr lang="en-US" sz="2000" b="1" dirty="0" smtClean="0"/>
              <a:t>2006 Trackball</a:t>
            </a:r>
            <a:endParaRPr lang="en-US" sz="2000" b="1" dirty="0"/>
          </a:p>
        </p:txBody>
      </p:sp>
      <p:sp>
        <p:nvSpPr>
          <p:cNvPr id="11" name="TextBox 10"/>
          <p:cNvSpPr txBox="1"/>
          <p:nvPr/>
        </p:nvSpPr>
        <p:spPr>
          <a:xfrm>
            <a:off x="4800600" y="6019800"/>
            <a:ext cx="2895600" cy="400110"/>
          </a:xfrm>
          <a:prstGeom prst="rect">
            <a:avLst/>
          </a:prstGeom>
          <a:noFill/>
        </p:spPr>
        <p:txBody>
          <a:bodyPr wrap="square" rtlCol="0">
            <a:spAutoFit/>
          </a:bodyPr>
          <a:lstStyle/>
          <a:p>
            <a:r>
              <a:rPr lang="en-US" sz="2000" b="1" dirty="0" smtClean="0"/>
              <a:t>2011 Voice Operated</a:t>
            </a:r>
            <a:endParaRPr lang="en-US" sz="2000" b="1" dirty="0"/>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715962"/>
          </a:xfrm>
        </p:spPr>
        <p:txBody>
          <a:bodyPr>
            <a:normAutofit fontScale="90000"/>
          </a:bodyPr>
          <a:lstStyle/>
          <a:p>
            <a:r>
              <a:rPr lang="en-US" dirty="0" smtClean="0"/>
              <a:t>What’s Next……?????</a:t>
            </a:r>
            <a:endParaRPr lang="en-US" dirty="0"/>
          </a:p>
        </p:txBody>
      </p:sp>
      <p:pic>
        <p:nvPicPr>
          <p:cNvPr id="4" name="Picture 3" descr="eyetracking research page 300x188.jpg"/>
          <p:cNvPicPr>
            <a:picLocks noChangeAspect="1"/>
          </p:cNvPicPr>
          <p:nvPr/>
        </p:nvPicPr>
        <p:blipFill>
          <a:blip r:embed="rId2"/>
          <a:stretch>
            <a:fillRect/>
          </a:stretch>
        </p:blipFill>
        <p:spPr>
          <a:xfrm>
            <a:off x="990600" y="762000"/>
            <a:ext cx="3333750" cy="1905000"/>
          </a:xfrm>
          <a:prstGeom prst="rect">
            <a:avLst/>
          </a:prstGeom>
        </p:spPr>
      </p:pic>
      <p:pic>
        <p:nvPicPr>
          <p:cNvPr id="5" name="Picture 4" descr="what_is_et_main.png"/>
          <p:cNvPicPr>
            <a:picLocks noChangeAspect="1"/>
          </p:cNvPicPr>
          <p:nvPr/>
        </p:nvPicPr>
        <p:blipFill>
          <a:blip r:embed="rId3"/>
          <a:stretch>
            <a:fillRect/>
          </a:stretch>
        </p:blipFill>
        <p:spPr>
          <a:xfrm>
            <a:off x="4876800" y="762000"/>
            <a:ext cx="3419475" cy="1905000"/>
          </a:xfrm>
          <a:prstGeom prst="rect">
            <a:avLst/>
          </a:prstGeom>
        </p:spPr>
      </p:pic>
      <p:sp>
        <p:nvSpPr>
          <p:cNvPr id="6" name="TextBox 5"/>
          <p:cNvSpPr txBox="1"/>
          <p:nvPr/>
        </p:nvSpPr>
        <p:spPr>
          <a:xfrm>
            <a:off x="1371600" y="2895600"/>
            <a:ext cx="6477000" cy="646331"/>
          </a:xfrm>
          <a:prstGeom prst="rect">
            <a:avLst/>
          </a:prstGeom>
          <a:noFill/>
        </p:spPr>
        <p:txBody>
          <a:bodyPr wrap="square" rtlCol="0">
            <a:spAutoFit/>
          </a:bodyPr>
          <a:lstStyle/>
          <a:p>
            <a:r>
              <a:rPr lang="en-US" sz="3600" b="1" u="sng" dirty="0" smtClean="0"/>
              <a:t>Human Eye Mobile Technology</a:t>
            </a:r>
            <a:endParaRPr lang="en-US" sz="3600" b="1" u="sng" dirty="0"/>
          </a:p>
        </p:txBody>
      </p:sp>
      <p:sp>
        <p:nvSpPr>
          <p:cNvPr id="7" name="TextBox 6"/>
          <p:cNvSpPr txBox="1"/>
          <p:nvPr/>
        </p:nvSpPr>
        <p:spPr>
          <a:xfrm>
            <a:off x="914400" y="3810000"/>
            <a:ext cx="7620000" cy="2677656"/>
          </a:xfrm>
          <a:prstGeom prst="rect">
            <a:avLst/>
          </a:prstGeom>
          <a:noFill/>
        </p:spPr>
        <p:txBody>
          <a:bodyPr wrap="square" rtlCol="0">
            <a:spAutoFit/>
          </a:bodyPr>
          <a:lstStyle/>
          <a:p>
            <a:pPr>
              <a:buFont typeface="Wingdings" pitchFamily="2" charset="2"/>
              <a:buChar char="v"/>
            </a:pPr>
            <a:r>
              <a:rPr lang="en-US" sz="2400" dirty="0" smtClean="0"/>
              <a:t>Hand free interfacing system</a:t>
            </a:r>
          </a:p>
          <a:p>
            <a:endParaRPr lang="en-US" sz="2400" dirty="0" smtClean="0"/>
          </a:p>
          <a:p>
            <a:pPr>
              <a:buFont typeface="Wingdings" pitchFamily="2" charset="2"/>
              <a:buChar char="v"/>
            </a:pPr>
            <a:r>
              <a:rPr lang="en-US" sz="2400" dirty="0" smtClean="0"/>
              <a:t>Works by user’s eye movement</a:t>
            </a:r>
          </a:p>
          <a:p>
            <a:endParaRPr lang="en-US" sz="2400" dirty="0" smtClean="0"/>
          </a:p>
          <a:p>
            <a:pPr>
              <a:buFont typeface="Wingdings" pitchFamily="2" charset="2"/>
              <a:buChar char="v"/>
            </a:pPr>
            <a:r>
              <a:rPr lang="en-US" sz="2400" dirty="0" smtClean="0"/>
              <a:t>Eye is tracked and the position is inferred</a:t>
            </a:r>
          </a:p>
          <a:p>
            <a:endParaRPr lang="en-US" sz="2400" dirty="0" smtClean="0"/>
          </a:p>
          <a:p>
            <a:pPr>
              <a:buFont typeface="Wingdings" pitchFamily="2" charset="2"/>
              <a:buChar char="v"/>
            </a:pPr>
            <a:r>
              <a:rPr lang="en-US" sz="2400" dirty="0" smtClean="0"/>
              <a:t>Tracking is done through the front camera</a:t>
            </a:r>
            <a:endParaRPr lang="en-US" sz="2400" dirty="0"/>
          </a:p>
        </p:txBody>
      </p:sp>
    </p:spTree>
  </p:cSld>
  <p:clrMapOvr>
    <a:masterClrMapping/>
  </p:clrMapOvr>
  <p:transition spd="slow">
    <p:wipe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HEMT Design</a:t>
            </a:r>
            <a:endParaRPr lang="en-US" dirty="0"/>
          </a:p>
        </p:txBody>
      </p:sp>
      <p:sp>
        <p:nvSpPr>
          <p:cNvPr id="4" name="TextBox 3"/>
          <p:cNvSpPr txBox="1"/>
          <p:nvPr/>
        </p:nvSpPr>
        <p:spPr>
          <a:xfrm>
            <a:off x="609600" y="1371600"/>
            <a:ext cx="7696200" cy="1107996"/>
          </a:xfrm>
          <a:prstGeom prst="rect">
            <a:avLst/>
          </a:prstGeom>
          <a:noFill/>
        </p:spPr>
        <p:txBody>
          <a:bodyPr wrap="square" rtlCol="0">
            <a:spAutoFit/>
          </a:bodyPr>
          <a:lstStyle/>
          <a:p>
            <a:r>
              <a:rPr lang="en-US" sz="2400" dirty="0"/>
              <a:t>The </a:t>
            </a:r>
            <a:r>
              <a:rPr lang="en-US" sz="2400" dirty="0" smtClean="0"/>
              <a:t>HEMT </a:t>
            </a:r>
            <a:r>
              <a:rPr lang="en-US" sz="2400" dirty="0"/>
              <a:t>algorithmic design breaks down into the following pipeline phases: </a:t>
            </a:r>
          </a:p>
          <a:p>
            <a:endParaRPr lang="en-US" dirty="0"/>
          </a:p>
        </p:txBody>
      </p:sp>
      <p:sp>
        <p:nvSpPr>
          <p:cNvPr id="5" name="TextBox 4"/>
          <p:cNvSpPr txBox="1"/>
          <p:nvPr/>
        </p:nvSpPr>
        <p:spPr>
          <a:xfrm>
            <a:off x="685800" y="2286000"/>
            <a:ext cx="7010400" cy="2677656"/>
          </a:xfrm>
          <a:prstGeom prst="rect">
            <a:avLst/>
          </a:prstGeom>
          <a:noFill/>
        </p:spPr>
        <p:txBody>
          <a:bodyPr wrap="square" rtlCol="0">
            <a:spAutoFit/>
          </a:bodyPr>
          <a:lstStyle/>
          <a:p>
            <a:r>
              <a:rPr lang="en-US" sz="2400" dirty="0" smtClean="0"/>
              <a:t>1) An eye detection phase</a:t>
            </a:r>
          </a:p>
          <a:p>
            <a:endParaRPr lang="en-US" sz="2400" dirty="0" smtClean="0"/>
          </a:p>
          <a:p>
            <a:r>
              <a:rPr lang="en-US" sz="2400" dirty="0" smtClean="0"/>
              <a:t>2) An open eye template creation phase</a:t>
            </a:r>
          </a:p>
          <a:p>
            <a:endParaRPr lang="en-US" sz="2400" dirty="0" smtClean="0"/>
          </a:p>
          <a:p>
            <a:r>
              <a:rPr lang="en-US" sz="2400" dirty="0" smtClean="0"/>
              <a:t>3) An eye tracking phase</a:t>
            </a:r>
          </a:p>
          <a:p>
            <a:endParaRPr lang="en-US" sz="2400" dirty="0" smtClean="0"/>
          </a:p>
          <a:p>
            <a:r>
              <a:rPr lang="en-US" sz="2400" dirty="0" smtClean="0"/>
              <a:t>4) A blink detection phase</a:t>
            </a:r>
            <a:endParaRPr lang="en-US" sz="2400" dirty="0"/>
          </a:p>
        </p:txBody>
      </p:sp>
      <p:sp>
        <p:nvSpPr>
          <p:cNvPr id="6" name="TextBox 5"/>
          <p:cNvSpPr txBox="1"/>
          <p:nvPr/>
        </p:nvSpPr>
        <p:spPr>
          <a:xfrm>
            <a:off x="762000" y="5181600"/>
            <a:ext cx="8001000" cy="1200329"/>
          </a:xfrm>
          <a:prstGeom prst="rect">
            <a:avLst/>
          </a:prstGeom>
          <a:noFill/>
        </p:spPr>
        <p:txBody>
          <a:bodyPr wrap="square" rtlCol="0">
            <a:spAutoFit/>
          </a:bodyPr>
          <a:lstStyle/>
          <a:p>
            <a:r>
              <a:rPr lang="en-US" sz="2400" dirty="0"/>
              <a:t>We develop eye tracking and blink detection mechanisms based </a:t>
            </a:r>
            <a:r>
              <a:rPr lang="en-US" sz="2400" dirty="0" smtClean="0"/>
              <a:t>on algorithms </a:t>
            </a:r>
            <a:r>
              <a:rPr lang="en-US" sz="2400" dirty="0"/>
              <a:t>originally designed for desktop machines using USB cameras.</a:t>
            </a:r>
          </a:p>
        </p:txBody>
      </p:sp>
    </p:spTree>
  </p:cSld>
  <p:clrMapOvr>
    <a:masterClrMapping/>
  </p:clrMapOvr>
  <p:transition spd="slow">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838200"/>
          </a:xfrm>
        </p:spPr>
        <p:txBody>
          <a:bodyPr/>
          <a:lstStyle/>
          <a:p>
            <a:r>
              <a:rPr lang="en-US" dirty="0" smtClean="0"/>
              <a:t>1.Eye Detection Phase</a:t>
            </a:r>
            <a:endParaRPr lang="en-US" dirty="0"/>
          </a:p>
        </p:txBody>
      </p:sp>
      <p:sp>
        <p:nvSpPr>
          <p:cNvPr id="4" name="TextBox 3"/>
          <p:cNvSpPr txBox="1"/>
          <p:nvPr/>
        </p:nvSpPr>
        <p:spPr>
          <a:xfrm>
            <a:off x="990600" y="1143000"/>
            <a:ext cx="8153400" cy="1846659"/>
          </a:xfrm>
          <a:prstGeom prst="rect">
            <a:avLst/>
          </a:prstGeom>
          <a:noFill/>
        </p:spPr>
        <p:txBody>
          <a:bodyPr wrap="square" rtlCol="0">
            <a:spAutoFit/>
          </a:bodyPr>
          <a:lstStyle/>
          <a:p>
            <a:r>
              <a:rPr lang="en-US" sz="2400" dirty="0" smtClean="0"/>
              <a:t>This phase consists on finding the contour of the eyes, by applying a motion analysis technique which operates on consecutive frames . The eye pair is identified by the left and right eye contours.</a:t>
            </a:r>
          </a:p>
          <a:p>
            <a:endParaRPr lang="en-US" dirty="0"/>
          </a:p>
        </p:txBody>
      </p:sp>
      <p:sp>
        <p:nvSpPr>
          <p:cNvPr id="5" name="TextBox 4"/>
          <p:cNvSpPr txBox="1"/>
          <p:nvPr/>
        </p:nvSpPr>
        <p:spPr>
          <a:xfrm>
            <a:off x="1981200" y="2819400"/>
            <a:ext cx="6019800" cy="369332"/>
          </a:xfrm>
          <a:prstGeom prst="rect">
            <a:avLst/>
          </a:prstGeom>
          <a:noFill/>
        </p:spPr>
        <p:txBody>
          <a:bodyPr wrap="square" rtlCol="0">
            <a:spAutoFit/>
          </a:bodyPr>
          <a:lstStyle/>
          <a:p>
            <a:endParaRPr lang="en-US" dirty="0"/>
          </a:p>
        </p:txBody>
      </p:sp>
      <p:pic>
        <p:nvPicPr>
          <p:cNvPr id="6" name="Picture 2"/>
          <p:cNvPicPr>
            <a:picLocks noChangeAspect="1" noChangeArrowheads="1"/>
          </p:cNvPicPr>
          <p:nvPr/>
        </p:nvPicPr>
        <p:blipFill>
          <a:blip r:embed="rId2"/>
          <a:srcRect/>
          <a:stretch>
            <a:fillRect/>
          </a:stretch>
        </p:blipFill>
        <p:spPr bwMode="auto">
          <a:xfrm>
            <a:off x="990600" y="2819400"/>
            <a:ext cx="6858000" cy="2209800"/>
          </a:xfrm>
          <a:prstGeom prst="rect">
            <a:avLst/>
          </a:prstGeom>
          <a:noFill/>
          <a:ln w="9525">
            <a:noFill/>
            <a:miter lim="800000"/>
            <a:headEnd/>
            <a:tailEnd/>
          </a:ln>
        </p:spPr>
      </p:pic>
      <p:sp>
        <p:nvSpPr>
          <p:cNvPr id="7" name="TextBox 6"/>
          <p:cNvSpPr txBox="1"/>
          <p:nvPr/>
        </p:nvSpPr>
        <p:spPr>
          <a:xfrm>
            <a:off x="1143000" y="5105400"/>
            <a:ext cx="2971800" cy="1200329"/>
          </a:xfrm>
          <a:prstGeom prst="rect">
            <a:avLst/>
          </a:prstGeom>
          <a:noFill/>
        </p:spPr>
        <p:txBody>
          <a:bodyPr wrap="square" rtlCol="0">
            <a:spAutoFit/>
          </a:bodyPr>
          <a:lstStyle/>
          <a:p>
            <a:r>
              <a:rPr lang="en-US" dirty="0" smtClean="0">
                <a:latin typeface="Tw Cen MT" pitchFamily="34" charset="0"/>
              </a:rPr>
              <a:t>Results of original algorithm running on a desk-top with a USB camera</a:t>
            </a:r>
          </a:p>
          <a:p>
            <a:endParaRPr lang="en-US" dirty="0"/>
          </a:p>
        </p:txBody>
      </p:sp>
      <p:sp>
        <p:nvSpPr>
          <p:cNvPr id="8" name="TextBox 7"/>
          <p:cNvSpPr txBox="1"/>
          <p:nvPr/>
        </p:nvSpPr>
        <p:spPr>
          <a:xfrm>
            <a:off x="4953000" y="5105400"/>
            <a:ext cx="2819400" cy="923330"/>
          </a:xfrm>
          <a:prstGeom prst="rect">
            <a:avLst/>
          </a:prstGeom>
          <a:noFill/>
        </p:spPr>
        <p:txBody>
          <a:bodyPr wrap="square" rtlCol="0">
            <a:spAutoFit/>
          </a:bodyPr>
          <a:lstStyle/>
          <a:p>
            <a:r>
              <a:rPr lang="en-US" dirty="0" smtClean="0">
                <a:latin typeface="Tw Cen MT" pitchFamily="34" charset="0"/>
              </a:rPr>
              <a:t>Results of Eye tracking running on a Nokia N810. </a:t>
            </a:r>
          </a:p>
          <a:p>
            <a:endParaRPr lang="en-US" dirty="0"/>
          </a:p>
        </p:txBody>
      </p:sp>
    </p:spTree>
  </p:cSld>
  <p:clrMapOvr>
    <a:masterClrMapping/>
  </p:clrMapOvr>
  <p:transition spd="slow">
    <p:wipe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38200" y="304800"/>
            <a:ext cx="7772400" cy="954107"/>
          </a:xfrm>
          <a:prstGeom prst="rect">
            <a:avLst/>
          </a:prstGeom>
          <a:noFill/>
        </p:spPr>
        <p:txBody>
          <a:bodyPr wrap="square" rtlCol="0">
            <a:spAutoFit/>
          </a:bodyPr>
          <a:lstStyle/>
          <a:p>
            <a:r>
              <a:rPr lang="en-US" sz="2800" dirty="0" smtClean="0"/>
              <a:t>Based on the experimental observations and analysis, the original algorithm is modified as,</a:t>
            </a:r>
            <a:endParaRPr lang="en-US" sz="2800" dirty="0"/>
          </a:p>
        </p:txBody>
      </p:sp>
      <p:sp>
        <p:nvSpPr>
          <p:cNvPr id="5" name="TextBox 4"/>
          <p:cNvSpPr txBox="1"/>
          <p:nvPr/>
        </p:nvSpPr>
        <p:spPr>
          <a:xfrm>
            <a:off x="1066800" y="1371600"/>
            <a:ext cx="7239000" cy="1846659"/>
          </a:xfrm>
          <a:prstGeom prst="rect">
            <a:avLst/>
          </a:prstGeom>
          <a:noFill/>
        </p:spPr>
        <p:txBody>
          <a:bodyPr wrap="square" rtlCol="0">
            <a:spAutoFit/>
          </a:bodyPr>
          <a:lstStyle/>
          <a:p>
            <a:pPr marL="571500" indent="-571500" fontAlgn="auto">
              <a:spcAft>
                <a:spcPts val="0"/>
              </a:spcAft>
              <a:buFont typeface="Wingdings" pitchFamily="2" charset="2"/>
              <a:buChar char="ü"/>
              <a:defRPr/>
            </a:pPr>
            <a:r>
              <a:rPr lang="en-US" sz="2400" dirty="0"/>
              <a:t>Reducing the image resolution, which reduces the eye detection error </a:t>
            </a:r>
            <a:r>
              <a:rPr lang="en-US" sz="2400" dirty="0" smtClean="0"/>
              <a:t>rate</a:t>
            </a:r>
            <a:endParaRPr lang="en-US" sz="2400" dirty="0"/>
          </a:p>
          <a:p>
            <a:pPr marL="571500" indent="-571500" fontAlgn="auto">
              <a:spcAft>
                <a:spcPts val="0"/>
              </a:spcAft>
              <a:buFont typeface="Wingdings" pitchFamily="2" charset="2"/>
              <a:buChar char="ü"/>
              <a:defRPr/>
            </a:pPr>
            <a:r>
              <a:rPr lang="en-US" sz="2400" dirty="0"/>
              <a:t>Adding two more criteria to the original heuristics that filter out the false eye contours</a:t>
            </a:r>
          </a:p>
          <a:p>
            <a:endParaRPr lang="en-US" dirty="0"/>
          </a:p>
        </p:txBody>
      </p:sp>
      <p:sp>
        <p:nvSpPr>
          <p:cNvPr id="6" name="TextBox 5"/>
          <p:cNvSpPr txBox="1"/>
          <p:nvPr/>
        </p:nvSpPr>
        <p:spPr>
          <a:xfrm>
            <a:off x="2590800" y="3048000"/>
            <a:ext cx="4267200" cy="1107996"/>
          </a:xfrm>
          <a:prstGeom prst="rect">
            <a:avLst/>
          </a:prstGeom>
          <a:noFill/>
        </p:spPr>
        <p:txBody>
          <a:bodyPr wrap="square" rtlCol="0">
            <a:spAutoFit/>
          </a:bodyPr>
          <a:lstStyle/>
          <a:p>
            <a:r>
              <a:rPr lang="en-US" sz="2400" dirty="0" smtClean="0">
                <a:latin typeface="Tw Cen MT" pitchFamily="34" charset="0"/>
              </a:rPr>
              <a:t>width</a:t>
            </a:r>
            <a:r>
              <a:rPr lang="en-US" sz="2400" baseline="-10000" dirty="0" smtClean="0">
                <a:latin typeface="Tw Cen MT" pitchFamily="34" charset="0"/>
              </a:rPr>
              <a:t>min</a:t>
            </a:r>
            <a:r>
              <a:rPr lang="en-US" sz="2400" dirty="0" smtClean="0">
                <a:latin typeface="Tw Cen MT" pitchFamily="34" charset="0"/>
              </a:rPr>
              <a:t> ≤ width ≤ width</a:t>
            </a:r>
            <a:r>
              <a:rPr lang="en-US" sz="2400" baseline="-10000" dirty="0" smtClean="0">
                <a:latin typeface="Tw Cen MT" pitchFamily="34" charset="0"/>
              </a:rPr>
              <a:t>max</a:t>
            </a:r>
          </a:p>
          <a:p>
            <a:r>
              <a:rPr lang="en-US" sz="2400" dirty="0" smtClean="0">
                <a:latin typeface="Tw Cen MT" pitchFamily="34" charset="0"/>
              </a:rPr>
              <a:t>height</a:t>
            </a:r>
            <a:r>
              <a:rPr lang="en-US" sz="2400" baseline="-10000" dirty="0" smtClean="0">
                <a:latin typeface="Tw Cen MT" pitchFamily="34" charset="0"/>
              </a:rPr>
              <a:t>min</a:t>
            </a:r>
            <a:r>
              <a:rPr lang="en-US" sz="2400" dirty="0" smtClean="0">
                <a:latin typeface="Tw Cen MT" pitchFamily="34" charset="0"/>
              </a:rPr>
              <a:t> ≤ height ≤ height</a:t>
            </a:r>
            <a:r>
              <a:rPr lang="en-US" sz="2400" baseline="-10000" dirty="0" smtClean="0">
                <a:latin typeface="Tw Cen MT" pitchFamily="34" charset="0"/>
              </a:rPr>
              <a:t>max</a:t>
            </a:r>
          </a:p>
          <a:p>
            <a:endParaRPr lang="en-US" dirty="0"/>
          </a:p>
        </p:txBody>
      </p:sp>
      <p:sp>
        <p:nvSpPr>
          <p:cNvPr id="8" name="TextBox 7"/>
          <p:cNvSpPr txBox="1"/>
          <p:nvPr/>
        </p:nvSpPr>
        <p:spPr>
          <a:xfrm>
            <a:off x="990600" y="4267200"/>
            <a:ext cx="7315200" cy="2308324"/>
          </a:xfrm>
          <a:prstGeom prst="rect">
            <a:avLst/>
          </a:prstGeom>
          <a:noFill/>
        </p:spPr>
        <p:txBody>
          <a:bodyPr wrap="square" rtlCol="0">
            <a:spAutoFit/>
          </a:bodyPr>
          <a:lstStyle/>
          <a:p>
            <a:r>
              <a:rPr lang="en-US" sz="2400" dirty="0" smtClean="0">
                <a:latin typeface="Tw Cen MT" pitchFamily="34" charset="0"/>
              </a:rPr>
              <a:t>width</a:t>
            </a:r>
            <a:r>
              <a:rPr lang="en-US" sz="2400" baseline="-10000" dirty="0" smtClean="0">
                <a:latin typeface="Tw Cen MT" pitchFamily="34" charset="0"/>
              </a:rPr>
              <a:t>min, </a:t>
            </a:r>
            <a:r>
              <a:rPr lang="en-US" sz="2400" dirty="0" smtClean="0">
                <a:latin typeface="Tw Cen MT" pitchFamily="34" charset="0"/>
              </a:rPr>
              <a:t>width</a:t>
            </a:r>
            <a:r>
              <a:rPr lang="en-US" sz="2400" baseline="-10000" dirty="0" smtClean="0">
                <a:latin typeface="Tw Cen MT" pitchFamily="34" charset="0"/>
              </a:rPr>
              <a:t>max, </a:t>
            </a:r>
            <a:r>
              <a:rPr lang="en-US" sz="2400" dirty="0" smtClean="0">
                <a:latin typeface="Tw Cen MT" pitchFamily="34" charset="0"/>
              </a:rPr>
              <a:t>height</a:t>
            </a:r>
            <a:r>
              <a:rPr lang="en-US" sz="2400" baseline="-10000" dirty="0" smtClean="0">
                <a:latin typeface="Tw Cen MT" pitchFamily="34" charset="0"/>
              </a:rPr>
              <a:t>min</a:t>
            </a:r>
            <a:r>
              <a:rPr lang="en-US" sz="2400" dirty="0" smtClean="0">
                <a:latin typeface="Tw Cen MT" pitchFamily="34" charset="0"/>
              </a:rPr>
              <a:t>, height</a:t>
            </a:r>
            <a:r>
              <a:rPr lang="en-US" sz="2400" baseline="-10000" dirty="0" smtClean="0">
                <a:latin typeface="Tw Cen MT" pitchFamily="34" charset="0"/>
              </a:rPr>
              <a:t>max </a:t>
            </a:r>
            <a:r>
              <a:rPr lang="en-US" sz="2400" dirty="0" smtClean="0">
                <a:latin typeface="Tw Cen MT" pitchFamily="34" charset="0"/>
              </a:rPr>
              <a:t>are thresholds, which identify the possible sizes for a true eye contour, are determined under various experimental conditions (e.g., bright, dark, moving, not moving) and with different people. This design approach boosts the eye tracking accuracy considerably</a:t>
            </a:r>
            <a:endParaRPr lang="en-US" sz="2400" dirty="0"/>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2.Open Eye Template Creation</a:t>
            </a:r>
            <a:endParaRPr lang="en-US" dirty="0"/>
          </a:p>
        </p:txBody>
      </p:sp>
      <p:sp>
        <p:nvSpPr>
          <p:cNvPr id="4" name="TextBox 3"/>
          <p:cNvSpPr txBox="1"/>
          <p:nvPr/>
        </p:nvSpPr>
        <p:spPr>
          <a:xfrm>
            <a:off x="609600" y="1524000"/>
            <a:ext cx="7696200" cy="2585323"/>
          </a:xfrm>
          <a:prstGeom prst="rect">
            <a:avLst/>
          </a:prstGeom>
          <a:noFill/>
        </p:spPr>
        <p:txBody>
          <a:bodyPr wrap="square" rtlCol="0">
            <a:spAutoFit/>
          </a:bodyPr>
          <a:lstStyle/>
          <a:p>
            <a:pPr>
              <a:buFont typeface="Wingdings" pitchFamily="2" charset="2"/>
              <a:buChar char="Ø"/>
            </a:pPr>
            <a:r>
              <a:rPr lang="en-US" sz="2400" dirty="0" smtClean="0"/>
              <a:t>HEMT creates a template of a user’s open eye once at the beginning when a person uses the system for the first time using the eye detection algorithm. </a:t>
            </a:r>
          </a:p>
          <a:p>
            <a:pPr>
              <a:buFont typeface="Wingdings" pitchFamily="2" charset="2"/>
              <a:buChar char="Ø"/>
            </a:pPr>
            <a:endParaRPr lang="en-US" sz="2400" dirty="0"/>
          </a:p>
          <a:p>
            <a:pPr>
              <a:buFont typeface="Wingdings" pitchFamily="2" charset="2"/>
              <a:buChar char="Ø"/>
            </a:pPr>
            <a:r>
              <a:rPr lang="en-US" sz="2400" dirty="0" smtClean="0"/>
              <a:t>The template is saved in the persistent memory of the device and fetched when HEMT is invoked</a:t>
            </a:r>
          </a:p>
          <a:p>
            <a:endParaRPr lang="en-US" dirty="0"/>
          </a:p>
        </p:txBody>
      </p:sp>
      <p:sp>
        <p:nvSpPr>
          <p:cNvPr id="5" name="TextBox 4"/>
          <p:cNvSpPr txBox="1"/>
          <p:nvPr/>
        </p:nvSpPr>
        <p:spPr>
          <a:xfrm>
            <a:off x="609600" y="4343400"/>
            <a:ext cx="7543800" cy="1477328"/>
          </a:xfrm>
          <a:prstGeom prst="rect">
            <a:avLst/>
          </a:prstGeom>
          <a:noFill/>
        </p:spPr>
        <p:txBody>
          <a:bodyPr wrap="square" rtlCol="0">
            <a:spAutoFit/>
          </a:bodyPr>
          <a:lstStyle/>
          <a:p>
            <a:pPr>
              <a:buFont typeface="Wingdings" pitchFamily="2" charset="2"/>
              <a:buChar char="Ø"/>
            </a:pPr>
            <a:r>
              <a:rPr lang="en-US" sz="2400" i="1" dirty="0" smtClean="0">
                <a:latin typeface="+mj-lt"/>
                <a:cs typeface="Arabic Typesetting" pitchFamily="66" charset="-78"/>
              </a:rPr>
              <a:t>Downside of this off-line template creation approach is that a template created in certain lighting conditions might not be perfectly suitable for other environments</a:t>
            </a:r>
          </a:p>
          <a:p>
            <a:endParaRPr lang="en-US" dirty="0"/>
          </a:p>
        </p:txBody>
      </p:sp>
    </p:spTree>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3.Eye Tracking Phase</a:t>
            </a:r>
            <a:endParaRPr lang="en-US" dirty="0"/>
          </a:p>
        </p:txBody>
      </p:sp>
      <p:sp>
        <p:nvSpPr>
          <p:cNvPr id="4" name="TextBox 3"/>
          <p:cNvSpPr txBox="1"/>
          <p:nvPr/>
        </p:nvSpPr>
        <p:spPr>
          <a:xfrm>
            <a:off x="609600" y="1447800"/>
            <a:ext cx="7696200" cy="1631216"/>
          </a:xfrm>
          <a:prstGeom prst="rect">
            <a:avLst/>
          </a:prstGeom>
          <a:noFill/>
        </p:spPr>
        <p:txBody>
          <a:bodyPr wrap="square" rtlCol="0">
            <a:spAutoFit/>
          </a:bodyPr>
          <a:lstStyle/>
          <a:p>
            <a:r>
              <a:rPr lang="en-US" sz="2000" dirty="0"/>
              <a:t>The eye tracking algorithm is based on template matching. The template matching function calculates a correlation score between the open eye template, created the first time the application is used, and a search window.</a:t>
            </a:r>
            <a:r>
              <a:rPr lang="en-US" sz="2000" i="1" dirty="0"/>
              <a:t> </a:t>
            </a:r>
            <a:endParaRPr lang="en-US" sz="2000" dirty="0"/>
          </a:p>
          <a:p>
            <a:endParaRPr lang="en-US" sz="2000" dirty="0"/>
          </a:p>
        </p:txBody>
      </p:sp>
      <p:sp>
        <p:nvSpPr>
          <p:cNvPr id="5" name="TextBox 4"/>
          <p:cNvSpPr txBox="1"/>
          <p:nvPr/>
        </p:nvSpPr>
        <p:spPr>
          <a:xfrm>
            <a:off x="609600" y="2743200"/>
            <a:ext cx="7543800" cy="646331"/>
          </a:xfrm>
          <a:prstGeom prst="rect">
            <a:avLst/>
          </a:prstGeom>
          <a:noFill/>
        </p:spPr>
        <p:txBody>
          <a:bodyPr wrap="square" rtlCol="0">
            <a:spAutoFit/>
          </a:bodyPr>
          <a:lstStyle/>
          <a:p>
            <a:r>
              <a:rPr lang="en-US" dirty="0" smtClean="0"/>
              <a:t>Based on the previous analysis experiments for eye tracking, the following are inferred:</a:t>
            </a:r>
            <a:endParaRPr lang="en-US" dirty="0"/>
          </a:p>
        </p:txBody>
      </p:sp>
      <p:pic>
        <p:nvPicPr>
          <p:cNvPr id="6" name="Picture 2"/>
          <p:cNvPicPr>
            <a:picLocks noChangeAspect="1" noChangeArrowheads="1"/>
          </p:cNvPicPr>
          <p:nvPr/>
        </p:nvPicPr>
        <p:blipFill>
          <a:blip r:embed="rId2"/>
          <a:srcRect/>
          <a:stretch>
            <a:fillRect/>
          </a:stretch>
        </p:blipFill>
        <p:spPr bwMode="auto">
          <a:xfrm>
            <a:off x="3429000" y="3276600"/>
            <a:ext cx="1847850" cy="1428750"/>
          </a:xfrm>
          <a:prstGeom prst="rect">
            <a:avLst/>
          </a:prstGeom>
          <a:noFill/>
          <a:ln w="9525">
            <a:noFill/>
            <a:miter lim="800000"/>
            <a:headEnd/>
            <a:tailEnd/>
          </a:ln>
        </p:spPr>
      </p:pic>
      <p:sp>
        <p:nvSpPr>
          <p:cNvPr id="7" name="TextBox 6"/>
          <p:cNvSpPr txBox="1"/>
          <p:nvPr/>
        </p:nvSpPr>
        <p:spPr>
          <a:xfrm>
            <a:off x="609600" y="5105400"/>
            <a:ext cx="7543800" cy="1754326"/>
          </a:xfrm>
          <a:prstGeom prst="rect">
            <a:avLst/>
          </a:prstGeom>
          <a:noFill/>
        </p:spPr>
        <p:txBody>
          <a:bodyPr wrap="square" rtlCol="0">
            <a:spAutoFit/>
          </a:bodyPr>
          <a:lstStyle/>
          <a:p>
            <a:r>
              <a:rPr lang="en-US" dirty="0" smtClean="0">
                <a:latin typeface="Tw Cen MT" pitchFamily="34" charset="0"/>
              </a:rPr>
              <a:t>Outer box around the left eye encloses the region where the correlation score is calculated. If the normalized correlation coefficient equals 0.4 we conclude that there is an eye in the search window. This threshold has been verified accurate by means of multiple experiments under different conditions (e.g., bright, dark, moving, not moving)</a:t>
            </a:r>
          </a:p>
          <a:p>
            <a:endParaRPr lang="en-US" dirty="0"/>
          </a:p>
        </p:txBody>
      </p:sp>
    </p:spTree>
  </p:cSld>
  <p:clrMapOvr>
    <a:masterClrMapping/>
  </p:clrMapOvr>
  <p:transition spd="slow">
    <p:wipe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28600"/>
            <a:ext cx="5029200" cy="523220"/>
          </a:xfrm>
          <a:prstGeom prst="rect">
            <a:avLst/>
          </a:prstGeom>
          <a:noFill/>
        </p:spPr>
        <p:txBody>
          <a:bodyPr wrap="square" rtlCol="0">
            <a:spAutoFit/>
          </a:bodyPr>
          <a:lstStyle/>
          <a:p>
            <a:r>
              <a:rPr lang="en-US" sz="2800" dirty="0" smtClean="0"/>
              <a:t>Correlation:</a:t>
            </a:r>
            <a:endParaRPr lang="en-US" sz="2800" dirty="0"/>
          </a:p>
        </p:txBody>
      </p:sp>
      <p:sp>
        <p:nvSpPr>
          <p:cNvPr id="5" name="TextBox 4"/>
          <p:cNvSpPr txBox="1"/>
          <p:nvPr/>
        </p:nvSpPr>
        <p:spPr>
          <a:xfrm>
            <a:off x="914400" y="838200"/>
            <a:ext cx="7543800" cy="1938992"/>
          </a:xfrm>
          <a:prstGeom prst="rect">
            <a:avLst/>
          </a:prstGeom>
          <a:noFill/>
        </p:spPr>
        <p:txBody>
          <a:bodyPr wrap="square" rtlCol="0">
            <a:spAutoFit/>
          </a:bodyPr>
          <a:lstStyle/>
          <a:p>
            <a:pPr>
              <a:buFont typeface="Wingdings" pitchFamily="2" charset="2"/>
              <a:buChar char="Ø"/>
            </a:pPr>
            <a:r>
              <a:rPr lang="en-US" sz="2400" i="1" dirty="0" smtClean="0">
                <a:cs typeface="Arabic Typesetting" pitchFamily="66" charset="-78"/>
              </a:rPr>
              <a:t>Correlation is a measure of the degree to which two variables agree, not necessary in actual value but in general behavior.</a:t>
            </a:r>
          </a:p>
          <a:p>
            <a:pPr>
              <a:buFont typeface="Wingdings" pitchFamily="2" charset="2"/>
              <a:buChar char="Ø"/>
            </a:pPr>
            <a:r>
              <a:rPr lang="en-US" sz="2400" i="1" dirty="0" smtClean="0">
                <a:cs typeface="Arabic Typesetting" pitchFamily="66" charset="-78"/>
              </a:rPr>
              <a:t>The two variables are the corresponding pixel values in two images, template and source.</a:t>
            </a:r>
          </a:p>
        </p:txBody>
      </p:sp>
      <p:graphicFrame>
        <p:nvGraphicFramePr>
          <p:cNvPr id="1026" name="Object 2"/>
          <p:cNvGraphicFramePr>
            <a:graphicFrameLocks noChangeAspect="1"/>
          </p:cNvGraphicFramePr>
          <p:nvPr/>
        </p:nvGraphicFramePr>
        <p:xfrm>
          <a:off x="762000" y="3505200"/>
          <a:ext cx="3276600" cy="1077913"/>
        </p:xfrm>
        <a:graphic>
          <a:graphicData uri="http://schemas.openxmlformats.org/presentationml/2006/ole">
            <p:oleObj spid="_x0000_s1026" name="Equation" r:id="rId3" imgW="1993680" imgH="749160" progId="Equation.3">
              <p:embed/>
            </p:oleObj>
          </a:graphicData>
        </a:graphic>
      </p:graphicFrame>
      <p:sp>
        <p:nvSpPr>
          <p:cNvPr id="8" name="TextBox 7"/>
          <p:cNvSpPr txBox="1"/>
          <p:nvPr/>
        </p:nvSpPr>
        <p:spPr>
          <a:xfrm>
            <a:off x="4495800" y="2667000"/>
            <a:ext cx="3962400" cy="2862322"/>
          </a:xfrm>
          <a:prstGeom prst="rect">
            <a:avLst/>
          </a:prstGeom>
          <a:noFill/>
        </p:spPr>
        <p:txBody>
          <a:bodyPr wrap="square" rtlCol="0">
            <a:spAutoFit/>
          </a:bodyPr>
          <a:lstStyle/>
          <a:p>
            <a:r>
              <a:rPr lang="en-US" dirty="0" smtClean="0">
                <a:latin typeface="Tw Cen MT" pitchFamily="34" charset="0"/>
              </a:rPr>
              <a:t>x is the template gray level image</a:t>
            </a:r>
          </a:p>
          <a:p>
            <a:r>
              <a:rPr lang="en-US" dirty="0" smtClean="0">
                <a:latin typeface="Tw Cen MT" pitchFamily="34" charset="0"/>
              </a:rPr>
              <a:t>x is the average grey level in the template image</a:t>
            </a:r>
          </a:p>
          <a:p>
            <a:r>
              <a:rPr lang="en-US" dirty="0" smtClean="0">
                <a:latin typeface="Tw Cen MT" pitchFamily="34" charset="0"/>
              </a:rPr>
              <a:t>y is the source image section</a:t>
            </a:r>
          </a:p>
          <a:p>
            <a:r>
              <a:rPr lang="en-US" dirty="0" smtClean="0">
                <a:latin typeface="Tw Cen MT" pitchFamily="34" charset="0"/>
              </a:rPr>
              <a:t>y is the average grey level in the source image</a:t>
            </a:r>
          </a:p>
          <a:p>
            <a:r>
              <a:rPr lang="en-US" dirty="0" smtClean="0">
                <a:latin typeface="Tw Cen MT" pitchFamily="34" charset="0"/>
              </a:rPr>
              <a:t>N is the number of pixels in the section image </a:t>
            </a:r>
          </a:p>
          <a:p>
            <a:r>
              <a:rPr lang="en-US" dirty="0" smtClean="0">
                <a:latin typeface="Tw Cen MT" pitchFamily="34" charset="0"/>
              </a:rPr>
              <a:t>(N= template image size = columns * rows</a:t>
            </a:r>
            <a:endParaRPr lang="en-US" dirty="0"/>
          </a:p>
        </p:txBody>
      </p:sp>
      <p:sp>
        <p:nvSpPr>
          <p:cNvPr id="9" name="TextBox 8"/>
          <p:cNvSpPr txBox="1"/>
          <p:nvPr/>
        </p:nvSpPr>
        <p:spPr>
          <a:xfrm>
            <a:off x="1219200" y="5638800"/>
            <a:ext cx="6781800" cy="984885"/>
          </a:xfrm>
          <a:prstGeom prst="rect">
            <a:avLst/>
          </a:prstGeom>
          <a:noFill/>
        </p:spPr>
        <p:txBody>
          <a:bodyPr wrap="square" rtlCol="0">
            <a:spAutoFit/>
          </a:bodyPr>
          <a:lstStyle/>
          <a:p>
            <a:r>
              <a:rPr lang="en-US" sz="2000" i="1" dirty="0" smtClean="0">
                <a:cs typeface="Arabic Typesetting" pitchFamily="66" charset="-78"/>
              </a:rPr>
              <a:t>The value cor is between –1 and +1, with larger values representing a stronger relationship between the two images</a:t>
            </a:r>
          </a:p>
          <a:p>
            <a:endParaRPr lang="en-US" dirty="0"/>
          </a:p>
        </p:txBody>
      </p:sp>
    </p:spTree>
  </p:cSld>
  <p:clrMapOvr>
    <a:masterClrMapping/>
  </p:clrMapOvr>
  <p:transition spd="slow">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4.Blink Detection</a:t>
            </a:r>
            <a:endParaRPr lang="en-US" dirty="0"/>
          </a:p>
        </p:txBody>
      </p:sp>
      <p:sp>
        <p:nvSpPr>
          <p:cNvPr id="5" name="TextBox 4"/>
          <p:cNvSpPr txBox="1"/>
          <p:nvPr/>
        </p:nvSpPr>
        <p:spPr>
          <a:xfrm>
            <a:off x="381000" y="990600"/>
            <a:ext cx="8229600" cy="984885"/>
          </a:xfrm>
          <a:prstGeom prst="rect">
            <a:avLst/>
          </a:prstGeom>
          <a:noFill/>
        </p:spPr>
        <p:txBody>
          <a:bodyPr wrap="square" rtlCol="0">
            <a:spAutoFit/>
          </a:bodyPr>
          <a:lstStyle/>
          <a:p>
            <a:r>
              <a:rPr lang="en-US" sz="2000" dirty="0" smtClean="0"/>
              <a:t>To detect blinks they apply a thresholding technique for the normalized correlation coefficient returned by the template matching function</a:t>
            </a:r>
          </a:p>
          <a:p>
            <a:endParaRPr lang="en-US" dirty="0"/>
          </a:p>
        </p:txBody>
      </p:sp>
      <p:sp>
        <p:nvSpPr>
          <p:cNvPr id="6" name="TextBox 5"/>
          <p:cNvSpPr txBox="1"/>
          <p:nvPr/>
        </p:nvSpPr>
        <p:spPr>
          <a:xfrm>
            <a:off x="381000" y="2133600"/>
            <a:ext cx="7772400" cy="3170099"/>
          </a:xfrm>
          <a:prstGeom prst="rect">
            <a:avLst/>
          </a:prstGeom>
          <a:noFill/>
        </p:spPr>
        <p:txBody>
          <a:bodyPr wrap="square" rtlCol="0">
            <a:spAutoFit/>
          </a:bodyPr>
          <a:lstStyle/>
          <a:p>
            <a:pPr>
              <a:buFont typeface="Wingdings" pitchFamily="2" charset="2"/>
              <a:buChar char="Ø"/>
            </a:pPr>
            <a:r>
              <a:rPr lang="en-US" sz="2000" i="1" dirty="0" smtClean="0">
                <a:cs typeface="Arabic Typesetting" pitchFamily="66" charset="-78"/>
              </a:rPr>
              <a:t>Quality of the mobile camera is not the same as a good USB camera, and the phone’s camera is generally closer to the person’s face than is the case of using a desktop and USB camera. Because of this latter situation the camera can pick up iris movements, i.e., the interior of the eye, due to eyeball rotation.</a:t>
            </a:r>
          </a:p>
          <a:p>
            <a:endParaRPr lang="en-US" sz="2000" i="1" dirty="0">
              <a:cs typeface="Arabic Typesetting" pitchFamily="66" charset="-78"/>
            </a:endParaRPr>
          </a:p>
          <a:p>
            <a:pPr>
              <a:buFont typeface="Wingdings" pitchFamily="2" charset="2"/>
              <a:buChar char="Ø"/>
            </a:pPr>
            <a:r>
              <a:rPr lang="en-US" sz="2000" i="1" dirty="0" smtClean="0">
                <a:cs typeface="Arabic Typesetting" pitchFamily="66" charset="-78"/>
              </a:rPr>
              <a:t> In particular, when the iris is turned towards the corner of the eye, upwards or downwards, a blink is inferred even if the eye remains open. This occurs because in this case the majority of the eye ball surface turns white which is confused with the color of the skin</a:t>
            </a:r>
            <a:endParaRPr lang="en-US" sz="2000" dirty="0"/>
          </a:p>
        </p:txBody>
      </p:sp>
      <p:sp>
        <p:nvSpPr>
          <p:cNvPr id="7" name="TextBox 6"/>
          <p:cNvSpPr txBox="1"/>
          <p:nvPr/>
        </p:nvSpPr>
        <p:spPr>
          <a:xfrm>
            <a:off x="381000" y="1676400"/>
            <a:ext cx="4343400" cy="461665"/>
          </a:xfrm>
          <a:prstGeom prst="rect">
            <a:avLst/>
          </a:prstGeom>
          <a:noFill/>
        </p:spPr>
        <p:txBody>
          <a:bodyPr wrap="square" rtlCol="0">
            <a:spAutoFit/>
          </a:bodyPr>
          <a:lstStyle/>
          <a:p>
            <a:r>
              <a:rPr lang="en-US" sz="2400" dirty="0" smtClean="0"/>
              <a:t>Problems:</a:t>
            </a:r>
            <a:endParaRPr lang="en-US" sz="2400" dirty="0"/>
          </a:p>
        </p:txBody>
      </p:sp>
      <p:sp>
        <p:nvSpPr>
          <p:cNvPr id="8" name="TextBox 7"/>
          <p:cNvSpPr txBox="1"/>
          <p:nvPr/>
        </p:nvSpPr>
        <p:spPr>
          <a:xfrm>
            <a:off x="381000" y="5334000"/>
            <a:ext cx="7543800" cy="1015663"/>
          </a:xfrm>
          <a:prstGeom prst="rect">
            <a:avLst/>
          </a:prstGeom>
          <a:noFill/>
        </p:spPr>
        <p:txBody>
          <a:bodyPr wrap="square" rtlCol="0">
            <a:spAutoFit/>
          </a:bodyPr>
          <a:lstStyle/>
          <a:p>
            <a:r>
              <a:rPr lang="en-US" sz="2400" dirty="0" smtClean="0"/>
              <a:t>Solution:</a:t>
            </a:r>
          </a:p>
          <a:p>
            <a:pPr>
              <a:buFont typeface="Wingdings" pitchFamily="2" charset="2"/>
              <a:buChar char="Ø"/>
            </a:pPr>
            <a:r>
              <a:rPr lang="en-US" dirty="0" smtClean="0"/>
              <a:t>Improve the quality of the camera so as to obtain clear contours and to avoid detection of iris movements.</a:t>
            </a:r>
            <a:endParaRPr lang="en-US" dirty="0"/>
          </a:p>
        </p:txBody>
      </p:sp>
    </p:spTree>
  </p:cSld>
  <p:clrMapOvr>
    <a:masterClrMapping/>
  </p:clrMapOvr>
  <p:transition spd="slow">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90800" y="0"/>
            <a:ext cx="5105400" cy="923330"/>
          </a:xfrm>
          <a:prstGeom prst="rect">
            <a:avLst/>
          </a:prstGeom>
          <a:noFill/>
        </p:spPr>
        <p:txBody>
          <a:bodyPr wrap="square" rtlCol="0">
            <a:spAutoFit/>
          </a:bodyPr>
          <a:lstStyle/>
          <a:p>
            <a:r>
              <a:rPr lang="en-US" sz="5400" b="1" dirty="0" smtClean="0"/>
              <a:t>A</a:t>
            </a:r>
            <a:r>
              <a:rPr lang="en-US" sz="4800" b="1" dirty="0" smtClean="0"/>
              <a:t>PPLICATIONS</a:t>
            </a:r>
            <a:endParaRPr lang="en-US" sz="4800" b="1" dirty="0"/>
          </a:p>
        </p:txBody>
      </p:sp>
      <p:sp>
        <p:nvSpPr>
          <p:cNvPr id="5" name="TextBox 4"/>
          <p:cNvSpPr txBox="1"/>
          <p:nvPr/>
        </p:nvSpPr>
        <p:spPr>
          <a:xfrm>
            <a:off x="304800" y="914400"/>
            <a:ext cx="3429000" cy="1446550"/>
          </a:xfrm>
          <a:prstGeom prst="rect">
            <a:avLst/>
          </a:prstGeom>
          <a:noFill/>
        </p:spPr>
        <p:txBody>
          <a:bodyPr wrap="square" rtlCol="0">
            <a:spAutoFit/>
          </a:bodyPr>
          <a:lstStyle/>
          <a:p>
            <a:r>
              <a:rPr lang="en-US" sz="4400" dirty="0" smtClean="0"/>
              <a:t>1.Eye Menu:</a:t>
            </a:r>
          </a:p>
          <a:p>
            <a:endParaRPr lang="en-US" sz="4400" dirty="0"/>
          </a:p>
        </p:txBody>
      </p:sp>
      <p:sp>
        <p:nvSpPr>
          <p:cNvPr id="6" name="TextBox 5"/>
          <p:cNvSpPr txBox="1"/>
          <p:nvPr/>
        </p:nvSpPr>
        <p:spPr>
          <a:xfrm>
            <a:off x="304800" y="3886200"/>
            <a:ext cx="8686800" cy="2907744"/>
          </a:xfrm>
          <a:prstGeom prst="rect">
            <a:avLst/>
          </a:prstGeom>
          <a:noFill/>
        </p:spPr>
        <p:txBody>
          <a:bodyPr wrap="square" rtlCol="0">
            <a:spAutoFit/>
          </a:bodyPr>
          <a:lstStyle/>
          <a:p>
            <a:r>
              <a:rPr lang="en-US" sz="2000" dirty="0"/>
              <a:t>An example of an HEMT application is Eye Menu. Eye Menu is a way to shortcut the access to some of the phone’s functions. The set of applications in the menu can be customized by the user. The idea is the following: the position of a person’s eye is mapped to one of the nine buttons. A button is highlighted when HEMT detects the eye in the position mapped to the button. If a user blinks their eye, the application associated with the button is lunched. Driving the mobile phone user interface with the eyes can be used as a way to facilitate the interaction with mobile phones or in support of people with disabilities. </a:t>
            </a:r>
          </a:p>
          <a:p>
            <a:endParaRPr lang="en-US" dirty="0"/>
          </a:p>
        </p:txBody>
      </p:sp>
      <p:pic>
        <p:nvPicPr>
          <p:cNvPr id="7" name="Picture 3"/>
          <p:cNvPicPr>
            <a:picLocks noChangeAspect="1" noChangeArrowheads="1"/>
          </p:cNvPicPr>
          <p:nvPr/>
        </p:nvPicPr>
        <p:blipFill>
          <a:blip r:embed="rId2"/>
          <a:srcRect/>
          <a:stretch>
            <a:fillRect/>
          </a:stretch>
        </p:blipFill>
        <p:spPr bwMode="auto">
          <a:xfrm>
            <a:off x="2667000" y="1828800"/>
            <a:ext cx="3281363" cy="1797050"/>
          </a:xfrm>
          <a:prstGeom prst="rect">
            <a:avLst/>
          </a:prstGeom>
          <a:noFill/>
          <a:ln w="9525">
            <a:noFill/>
            <a:miter lim="800000"/>
            <a:headEnd/>
            <a:tailEnd/>
          </a:ln>
        </p:spPr>
      </p:pic>
    </p:spTree>
  </p:cSld>
  <p:clrMapOvr>
    <a:masterClrMapping/>
  </p:clrMapOvr>
  <p:transition spd="slow">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304800"/>
            <a:ext cx="5334000" cy="769441"/>
          </a:xfrm>
          <a:prstGeom prst="rect">
            <a:avLst/>
          </a:prstGeom>
          <a:noFill/>
        </p:spPr>
        <p:txBody>
          <a:bodyPr wrap="square" rtlCol="0">
            <a:spAutoFit/>
          </a:bodyPr>
          <a:lstStyle/>
          <a:p>
            <a:r>
              <a:rPr lang="en-US" sz="4400" dirty="0" smtClean="0"/>
              <a:t>2.Car Driver Safety</a:t>
            </a:r>
            <a:endParaRPr lang="en-US" sz="4400" dirty="0"/>
          </a:p>
        </p:txBody>
      </p:sp>
      <p:sp>
        <p:nvSpPr>
          <p:cNvPr id="5" name="TextBox 4"/>
          <p:cNvSpPr txBox="1"/>
          <p:nvPr/>
        </p:nvSpPr>
        <p:spPr>
          <a:xfrm>
            <a:off x="762000" y="1600200"/>
            <a:ext cx="7772400" cy="4524315"/>
          </a:xfrm>
          <a:prstGeom prst="rect">
            <a:avLst/>
          </a:prstGeom>
          <a:noFill/>
        </p:spPr>
        <p:txBody>
          <a:bodyPr wrap="square" rtlCol="0">
            <a:spAutoFit/>
          </a:bodyPr>
          <a:lstStyle/>
          <a:p>
            <a:pPr>
              <a:buFont typeface="Wingdings" pitchFamily="2" charset="2"/>
              <a:buChar char="ü"/>
            </a:pPr>
            <a:r>
              <a:rPr lang="en-US" sz="2400" dirty="0"/>
              <a:t>HEMT could also be used to detect drivers drowsiness and distraction in cars. While car manufactures are developing technology to improve drivers safety by detecting drowsiness and distraction using dedicated sensors and cameras, HEMT could be readily usable for the same purpose even on low-end cars by just clipping the phone on the car dashboard</a:t>
            </a:r>
            <a:r>
              <a:rPr lang="en-US" sz="2400" dirty="0" smtClean="0"/>
              <a:t>.</a:t>
            </a:r>
          </a:p>
          <a:p>
            <a:endParaRPr lang="en-US" sz="2400" dirty="0"/>
          </a:p>
          <a:p>
            <a:pPr>
              <a:buFont typeface="Wingdings" pitchFamily="2" charset="2"/>
              <a:buChar char="ü"/>
            </a:pPr>
            <a:r>
              <a:rPr lang="en-US" sz="2400" dirty="0"/>
              <a:t>Among the above technologies used </a:t>
            </a:r>
            <a:r>
              <a:rPr lang="en-US" sz="2400" b="1" dirty="0"/>
              <a:t>GPS is widely used</a:t>
            </a:r>
            <a:r>
              <a:rPr lang="en-US" sz="2400" dirty="0"/>
              <a:t>. The </a:t>
            </a:r>
            <a:r>
              <a:rPr lang="en-US" sz="2400" b="1" dirty="0"/>
              <a:t>other technologies</a:t>
            </a:r>
            <a:r>
              <a:rPr lang="en-US" sz="2400" dirty="0"/>
              <a:t> are still in the </a:t>
            </a:r>
            <a:r>
              <a:rPr lang="en-US" sz="2400" b="1" dirty="0"/>
              <a:t>developmental stage</a:t>
            </a:r>
            <a:r>
              <a:rPr lang="en-US" sz="2400" dirty="0"/>
              <a:t> and they have not yet found their foot on the global market.</a:t>
            </a:r>
          </a:p>
          <a:p>
            <a:r>
              <a:rPr lang="en-US" sz="2400" dirty="0"/>
              <a:t>Also </a:t>
            </a:r>
            <a:r>
              <a:rPr lang="en-US" sz="2400" b="1" dirty="0"/>
              <a:t>the statistics about the accidents</a:t>
            </a:r>
            <a:r>
              <a:rPr lang="en-US" sz="2400" dirty="0"/>
              <a:t> that has taken place </a:t>
            </a:r>
            <a:r>
              <a:rPr lang="en-US" sz="2400" b="1" dirty="0"/>
              <a:t>in the past four years</a:t>
            </a:r>
            <a:r>
              <a:rPr lang="en-US" sz="2400" dirty="0"/>
              <a:t> should be taken into consideration</a:t>
            </a:r>
          </a:p>
        </p:txBody>
      </p:sp>
    </p:spTree>
  </p:cSld>
  <p:clrMapOvr>
    <a:masterClrMapping/>
  </p:clrMapOvr>
  <p:transition spd="slow">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C</a:t>
            </a:r>
            <a:r>
              <a:rPr lang="en-US" sz="4000" dirty="0" smtClean="0"/>
              <a:t>ONCLUSION</a:t>
            </a:r>
            <a:endParaRPr lang="en-US" sz="4000" dirty="0"/>
          </a:p>
        </p:txBody>
      </p:sp>
      <p:sp>
        <p:nvSpPr>
          <p:cNvPr id="4" name="TextBox 3"/>
          <p:cNvSpPr txBox="1"/>
          <p:nvPr/>
        </p:nvSpPr>
        <p:spPr>
          <a:xfrm>
            <a:off x="685800" y="1219200"/>
            <a:ext cx="7924800" cy="2215991"/>
          </a:xfrm>
          <a:prstGeom prst="rect">
            <a:avLst/>
          </a:prstGeom>
          <a:noFill/>
        </p:spPr>
        <p:txBody>
          <a:bodyPr wrap="square" rtlCol="0">
            <a:spAutoFit/>
          </a:bodyPr>
          <a:lstStyle/>
          <a:p>
            <a:r>
              <a:rPr lang="en-US" sz="2400" dirty="0"/>
              <a:t>This paper describes work on designing and developing the hand free interfacing system between human eye and mobile device. The work is yet in progress for creation of various phases. HEMT technology will be a promising approach to drive mobile application as hand free manner.</a:t>
            </a:r>
          </a:p>
          <a:p>
            <a:endParaRPr lang="en-US" dirty="0"/>
          </a:p>
        </p:txBody>
      </p:sp>
    </p:spTree>
  </p:cSld>
  <p:clrMapOvr>
    <a:masterClrMapping/>
  </p:clrMapOvr>
  <p:transition spd="slow">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214</TotalTime>
  <Words>1193</Words>
  <Application>Microsoft Office PowerPoint</Application>
  <PresentationFormat>On-screen Show (4:3)</PresentationFormat>
  <Paragraphs>92</Paragraphs>
  <Slides>15</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17" baseType="lpstr">
      <vt:lpstr>Office Theme</vt:lpstr>
      <vt:lpstr>Equation</vt:lpstr>
      <vt:lpstr>HUMAN EYE MOBILE TECHNOLOGY (HEMT)</vt:lpstr>
      <vt:lpstr>TECHNOLOGY INTRODUCTION</vt:lpstr>
      <vt:lpstr>HPI CHALLENGES</vt:lpstr>
      <vt:lpstr>HPI EVOLUTIONS</vt:lpstr>
      <vt:lpstr>What’s Next……?????</vt:lpstr>
      <vt:lpstr>HEMT Design</vt:lpstr>
      <vt:lpstr>1.Eye Detection Phase</vt:lpstr>
      <vt:lpstr>Slide 8</vt:lpstr>
      <vt:lpstr>2.Open Eye Template Creation</vt:lpstr>
      <vt:lpstr>3.Eye Tracking Phase</vt:lpstr>
      <vt:lpstr>Slide 11</vt:lpstr>
      <vt:lpstr>4.Blink Detection</vt:lpstr>
      <vt:lpstr>Slide 13</vt:lpstr>
      <vt:lpstr>Slide 14</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bhuvanesh</dc:creator>
  <cp:lastModifiedBy>bhuvanesh</cp:lastModifiedBy>
  <cp:revision>23</cp:revision>
  <dcterms:created xsi:type="dcterms:W3CDTF">2015-02-17T13:17:24Z</dcterms:created>
  <dcterms:modified xsi:type="dcterms:W3CDTF">2015-02-17T16:54:05Z</dcterms:modified>
</cp:coreProperties>
</file>